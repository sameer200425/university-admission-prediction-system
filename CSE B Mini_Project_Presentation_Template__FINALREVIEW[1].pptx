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60" r:id="rId5"/>
    <p:sldId id="269" r:id="rId6"/>
    <p:sldId id="259" r:id="rId7"/>
    <p:sldId id="271" r:id="rId8"/>
    <p:sldId id="265" r:id="rId9"/>
    <p:sldId id="266" r:id="rId10"/>
    <p:sldId id="272" r:id="rId11"/>
    <p:sldId id="273" r:id="rId12"/>
    <p:sldId id="276" r:id="rId13"/>
    <p:sldId id="275" r:id="rId14"/>
    <p:sldId id="277" r:id="rId15"/>
    <p:sldId id="267" r:id="rId16"/>
    <p:sldId id="268" r:id="rId17"/>
    <p:sldId id="278" r:id="rId1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84" d="100"/>
          <a:sy n="84" d="100"/>
        </p:scale>
        <p:origin x="1426" y="7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pPr/>
              <a:t>11/30/2025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pPr/>
              <a:t>11/30/2025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pPr/>
              <a:t>11/30/2025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pPr/>
              <a:t>11/30/2025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pPr/>
              <a:t>11/30/2025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pPr/>
              <a:t>11/30/2025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pPr/>
              <a:t>11/30/2025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pPr/>
              <a:t>11/30/2025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pPr/>
              <a:t>11/30/2025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pPr/>
              <a:t>11/30/2025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pPr/>
              <a:t>11/30/2025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pPr/>
              <a:t>11/30/2025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g"/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g"/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6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1995424"/>
            <a:ext cx="9144000" cy="1470025"/>
          </a:xfrm>
        </p:spPr>
        <p:txBody>
          <a:bodyPr>
            <a:normAutofit fontScale="90000"/>
          </a:bodyPr>
          <a:lstStyle/>
          <a:p>
            <a:r>
              <a:rPr lang="en-IN" dirty="0"/>
              <a:t>DEPARTMENT OF COMPUTER SCIENCE AND ENGINEERING</a:t>
            </a:r>
            <a:br>
              <a:rPr lang="en-IN" dirty="0"/>
            </a:br>
            <a:br>
              <a:rPr lang="en-IN" dirty="0"/>
            </a:br>
            <a:r>
              <a:rPr lang="en-IN" dirty="0"/>
              <a:t>MINI PROJECT</a:t>
            </a:r>
            <a:br>
              <a:rPr lang="en-IN" dirty="0"/>
            </a:br>
            <a:r>
              <a:rPr lang="en-IN" sz="4000" dirty="0"/>
              <a:t>UNIVERSITY ADMISSION PREDICTION SYSYTEM</a:t>
            </a:r>
            <a:endParaRPr sz="4000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72735" y="4731327"/>
            <a:ext cx="5424055" cy="1752600"/>
          </a:xfrm>
        </p:spPr>
        <p:txBody>
          <a:bodyPr>
            <a:normAutofit lnSpcReduction="10000"/>
          </a:bodyPr>
          <a:lstStyle/>
          <a:p>
            <a:r>
              <a:rPr lang="en-US" dirty="0">
                <a:solidFill>
                  <a:schemeClr val="tx1"/>
                </a:solidFill>
              </a:rPr>
              <a:t>Team Members</a:t>
            </a:r>
          </a:p>
          <a:p>
            <a:pPr algn="l"/>
            <a:endParaRPr lang="en-US" sz="1400" b="1" dirty="0">
              <a:solidFill>
                <a:schemeClr val="tx1"/>
              </a:solidFill>
            </a:endParaRPr>
          </a:p>
          <a:p>
            <a:pPr algn="l"/>
            <a:r>
              <a:rPr lang="en-US" sz="1800" b="1" dirty="0">
                <a:solidFill>
                  <a:schemeClr val="tx1"/>
                </a:solidFill>
              </a:rPr>
              <a:t>PATHAN SAMEER KHAN </a:t>
            </a:r>
            <a:r>
              <a:rPr lang="en-US" sz="1800" dirty="0"/>
              <a:t>– </a:t>
            </a:r>
            <a:r>
              <a:rPr lang="en-US" sz="1800" dirty="0">
                <a:solidFill>
                  <a:schemeClr val="tx1"/>
                </a:solidFill>
              </a:rPr>
              <a:t>3502210579</a:t>
            </a:r>
          </a:p>
          <a:p>
            <a:pPr algn="l"/>
            <a:r>
              <a:rPr lang="en-US" sz="1800" b="1" dirty="0">
                <a:solidFill>
                  <a:schemeClr val="tx1"/>
                </a:solidFill>
              </a:rPr>
              <a:t>YUVARAJ.V </a:t>
            </a:r>
            <a:r>
              <a:rPr lang="en-US" sz="1800" dirty="0">
                <a:solidFill>
                  <a:schemeClr val="tx1"/>
                </a:solidFill>
              </a:rPr>
              <a:t>– 3502210628</a:t>
            </a:r>
          </a:p>
          <a:p>
            <a:pPr algn="l"/>
            <a:r>
              <a:rPr lang="en-US" sz="1800" b="1" dirty="0">
                <a:solidFill>
                  <a:schemeClr val="tx1"/>
                </a:solidFill>
              </a:rPr>
              <a:t>PRAGADESH.A </a:t>
            </a:r>
            <a:r>
              <a:rPr lang="en-US" sz="1800" dirty="0">
                <a:solidFill>
                  <a:schemeClr val="tx1"/>
                </a:solidFill>
              </a:rPr>
              <a:t>- 3502210580</a:t>
            </a:r>
          </a:p>
          <a:p>
            <a:endParaRPr lang="en-US" dirty="0"/>
          </a:p>
          <a:p>
            <a:endParaRPr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9368A21-1EE2-ABF7-EE8F-FBBF6D926D9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8151" y="8803"/>
            <a:ext cx="8402223" cy="1038370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FA1C660D-F75F-9572-EE75-AF42AB1BA3C2}"/>
              </a:ext>
            </a:extLst>
          </p:cNvPr>
          <p:cNvSpPr/>
          <p:nvPr/>
        </p:nvSpPr>
        <p:spPr>
          <a:xfrm>
            <a:off x="5496790" y="5766955"/>
            <a:ext cx="3574474" cy="716972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b="1" dirty="0"/>
              <a:t>Guide Name: </a:t>
            </a:r>
            <a:r>
              <a:rPr lang="en-US" sz="1600" dirty="0"/>
              <a:t>DR</a:t>
            </a:r>
            <a:r>
              <a:rPr lang="en-US" sz="1600" b="1" dirty="0"/>
              <a:t>.</a:t>
            </a:r>
            <a:r>
              <a:rPr lang="en-US" sz="1600" dirty="0"/>
              <a:t>THILAGAVATH, PH.D</a:t>
            </a:r>
          </a:p>
          <a:p>
            <a:r>
              <a:rPr lang="en-US" b="1" dirty="0"/>
              <a:t>Designation: </a:t>
            </a:r>
            <a:r>
              <a:rPr lang="en-US" dirty="0"/>
              <a:t>ASSISTANT PROFESSOR</a:t>
            </a:r>
            <a:endParaRPr lang="en-IN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Problem Statement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en-IN" sz="18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In Tamil Nadu, the college admission process is a high-stakes, complex, and stressful experience for over 2.5 lakh Class 12 students annually. With more than 500 engineering colleges and hundreds of arts &amp; science institutions, students and parents face a "paradox of choice," struggling to identify institutions that align with their academic performance, financial budget, and career aspirations.</a:t>
            </a:r>
            <a:endParaRPr lang="en-US" sz="18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Objectives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47500" lnSpcReduction="20000"/>
          </a:bodyPr>
          <a:lstStyle/>
          <a:p>
            <a:pPr>
              <a:lnSpc>
                <a:spcPct val="170000"/>
              </a:lnSpc>
              <a:buFont typeface="Arial" panose="020B0604020202020204" pitchFamily="34" charset="0"/>
              <a:buChar char="•"/>
            </a:pPr>
            <a:r>
              <a:rPr lang="en-IN" dirty="0">
                <a:solidFill>
                  <a:schemeClr val="tx1">
                    <a:lumMod val="85000"/>
                    <a:lumOff val="15000"/>
                  </a:schemeClr>
                </a:solidFill>
              </a:rPr>
              <a:t>Develop an Accurate Prediction Model: To build and train a Machine Learning model (using Random Forest) that predicts college admission probabilities with over 90% accuracy based on historical cutoff trends and student academic profiles.</a:t>
            </a:r>
          </a:p>
          <a:p>
            <a:pPr>
              <a:lnSpc>
                <a:spcPct val="170000"/>
              </a:lnSpc>
              <a:buFont typeface="Arial" panose="020B0604020202020204" pitchFamily="34" charset="0"/>
              <a:buChar char="•"/>
            </a:pPr>
            <a:r>
              <a:rPr lang="en-IN" dirty="0">
                <a:solidFill>
                  <a:schemeClr val="tx1">
                    <a:lumMod val="85000"/>
                    <a:lumOff val="15000"/>
                  </a:schemeClr>
                </a:solidFill>
              </a:rPr>
              <a:t>Create a Centralized Information Hub: To consolidate verified data for 80+ colleges across Tamil Nadu—including fee structures, course details, and infrastructure—into a single, easily accessible web platform.</a:t>
            </a:r>
          </a:p>
          <a:p>
            <a:pPr>
              <a:lnSpc>
                <a:spcPct val="170000"/>
              </a:lnSpc>
              <a:buFont typeface="Arial" panose="020B0604020202020204" pitchFamily="34" charset="0"/>
              <a:buChar char="•"/>
            </a:pPr>
            <a:r>
              <a:rPr lang="en-IN" dirty="0">
                <a:solidFill>
                  <a:schemeClr val="tx1">
                    <a:lumMod val="85000"/>
                    <a:lumOff val="15000"/>
                  </a:schemeClr>
                </a:solidFill>
              </a:rPr>
              <a:t>Provide Personalized Decision Support: To implement intelligent tools like a Scholarship Matcher and ROI Calculator that offer customized financial and academic guidance based on a student's specific community, income, and marks.</a:t>
            </a:r>
          </a:p>
          <a:p>
            <a:pPr>
              <a:lnSpc>
                <a:spcPct val="170000"/>
              </a:lnSpc>
              <a:buFont typeface="Arial" panose="020B0604020202020204" pitchFamily="34" charset="0"/>
              <a:buChar char="•"/>
            </a:pPr>
            <a:r>
              <a:rPr lang="en-IN" dirty="0">
                <a:solidFill>
                  <a:schemeClr val="tx1">
                    <a:lumMod val="85000"/>
                    <a:lumOff val="15000"/>
                  </a:schemeClr>
                </a:solidFill>
              </a:rPr>
              <a:t>Enhance Accessibility via AI: To deploy an AI-powered Chatbot capable of providing 24/7 instant responses to student queries, thereby democrat</a:t>
            </a:r>
          </a:p>
          <a:p>
            <a:pPr>
              <a:lnSpc>
                <a:spcPct val="170000"/>
              </a:lnSpc>
              <a:buFont typeface="Arial" panose="020B0604020202020204" pitchFamily="34" charset="0"/>
              <a:buChar char="•"/>
            </a:pPr>
            <a:r>
              <a:rPr lang="en-IN" dirty="0" err="1">
                <a:solidFill>
                  <a:schemeClr val="tx1">
                    <a:lumMod val="85000"/>
                    <a:lumOff val="15000"/>
                  </a:schemeClr>
                </a:solidFill>
              </a:rPr>
              <a:t>izing</a:t>
            </a:r>
            <a:r>
              <a:rPr lang="en-IN" dirty="0">
                <a:solidFill>
                  <a:schemeClr val="tx1">
                    <a:lumMod val="85000"/>
                    <a:lumOff val="15000"/>
                  </a:schemeClr>
                </a:solidFill>
              </a:rPr>
              <a:t> access to quality admission </a:t>
            </a:r>
            <a:r>
              <a:rPr lang="en-IN" dirty="0" err="1">
                <a:solidFill>
                  <a:schemeClr val="tx1">
                    <a:lumMod val="85000"/>
                    <a:lumOff val="15000"/>
                  </a:schemeClr>
                </a:solidFill>
              </a:rPr>
              <a:t>counseling</a:t>
            </a:r>
            <a:r>
              <a:rPr lang="en-IN" dirty="0">
                <a:solidFill>
                  <a:schemeClr val="tx1">
                    <a:lumMod val="85000"/>
                    <a:lumOff val="15000"/>
                  </a:schemeClr>
                </a:solidFill>
              </a:rPr>
              <a:t> for rural and urban students alike.</a:t>
            </a:r>
            <a:endParaRPr lang="en-US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9462"/>
            <a:ext cx="8229600" cy="1143000"/>
          </a:xfrm>
        </p:spPr>
        <p:txBody>
          <a:bodyPr/>
          <a:lstStyle/>
          <a:p>
            <a:r>
              <a:rPr lang="en-US" dirty="0"/>
              <a:t>Tools and Technologies Used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8872" y="1088136"/>
            <a:ext cx="9025128" cy="5760402"/>
          </a:xfrm>
        </p:spPr>
        <p:txBody>
          <a:bodyPr>
            <a:noAutofit/>
          </a:bodyPr>
          <a:lstStyle/>
          <a:p>
            <a:pPr marL="914400" lvl="1" indent="-457200">
              <a:lnSpc>
                <a:spcPct val="150000"/>
              </a:lnSpc>
              <a:buAutoNum type="arabicPeriod"/>
            </a:pPr>
            <a:r>
              <a:rPr lang="en-US" sz="1600" b="1" dirty="0"/>
              <a:t>Programming Languages Python (v3.10+): </a:t>
            </a:r>
            <a:r>
              <a:rPr lang="en-US" sz="1600" dirty="0"/>
              <a:t>The core language used for backend logic, database management, and machine learning model </a:t>
            </a:r>
            <a:r>
              <a:rPr lang="en-US" sz="1600" dirty="0" err="1"/>
              <a:t>development.JavaScript</a:t>
            </a:r>
            <a:r>
              <a:rPr lang="en-US" sz="1600" dirty="0"/>
              <a:t> (ES6): Used for frontend interactivity, AJAX requests (for the chatbot and forms), and dynamic content rendering.HTML5 &amp; CSS3: Used for structuring the web pages and styling the user </a:t>
            </a:r>
            <a:r>
              <a:rPr lang="en-US" sz="1600" dirty="0" err="1"/>
              <a:t>interface.SQL</a:t>
            </a:r>
            <a:r>
              <a:rPr lang="en-US" sz="1600" dirty="0"/>
              <a:t>: Used for querying and managing the relational database.</a:t>
            </a:r>
          </a:p>
          <a:p>
            <a:pPr marL="914400" lvl="1" indent="-457200">
              <a:lnSpc>
                <a:spcPct val="150000"/>
              </a:lnSpc>
              <a:buAutoNum type="arabicPeriod"/>
            </a:pPr>
            <a:r>
              <a:rPr lang="en-US" sz="1600" b="1" dirty="0"/>
              <a:t> </a:t>
            </a:r>
            <a:r>
              <a:rPr lang="en-US" sz="1600" b="1" dirty="0" err="1"/>
              <a:t>FrameworksFlask</a:t>
            </a:r>
            <a:r>
              <a:rPr lang="en-US" sz="1600" b="1" dirty="0"/>
              <a:t> (v2.3.2): </a:t>
            </a:r>
            <a:r>
              <a:rPr lang="en-US" sz="1600" dirty="0"/>
              <a:t>A lightweight Python web framework used to build the application server, handle routing, and manage </a:t>
            </a:r>
            <a:r>
              <a:rPr lang="en-US" sz="1600" dirty="0" err="1"/>
              <a:t>sessions.Bootstrap</a:t>
            </a:r>
            <a:r>
              <a:rPr lang="en-US" sz="1600" dirty="0"/>
              <a:t> 5: A CSS framework used to create a responsive, mobile-first user interface with pre-built components like navbars, cards, and grids.</a:t>
            </a:r>
          </a:p>
          <a:p>
            <a:pPr marL="914400" lvl="1" indent="-457200">
              <a:lnSpc>
                <a:spcPct val="150000"/>
              </a:lnSpc>
              <a:buAutoNum type="arabicPeriod"/>
            </a:pPr>
            <a:r>
              <a:rPr lang="en-IN" sz="1600" b="1" dirty="0"/>
              <a:t>Libraries &amp; </a:t>
            </a:r>
            <a:r>
              <a:rPr lang="en-IN" sz="1600" b="1" dirty="0" err="1"/>
              <a:t>PackagesMachine</a:t>
            </a:r>
            <a:r>
              <a:rPr lang="en-IN" sz="1600" b="1" dirty="0"/>
              <a:t> Learning &amp; Data </a:t>
            </a:r>
            <a:r>
              <a:rPr lang="en-IN" sz="1600" b="1" dirty="0" err="1"/>
              <a:t>Science:Scikit-learn</a:t>
            </a:r>
            <a:r>
              <a:rPr lang="en-IN" sz="1600" b="1" dirty="0"/>
              <a:t>: </a:t>
            </a:r>
            <a:r>
              <a:rPr lang="en-IN" sz="1600" dirty="0"/>
              <a:t>Used for implementing the Random Forest Classifier (admission prediction) and Linear Regression (cutoff trends).Pandas: Used for data manipulation, cleaning, and processing CSV </a:t>
            </a:r>
            <a:r>
              <a:rPr lang="en-IN" sz="1600" dirty="0" err="1"/>
              <a:t>datasets.NumPy</a:t>
            </a:r>
            <a:r>
              <a:rPr lang="en-IN" sz="1600" dirty="0"/>
              <a:t>: Used for numerical computations and handling </a:t>
            </a:r>
            <a:r>
              <a:rPr lang="en-IN" sz="1600" dirty="0" err="1"/>
              <a:t>arrays.Joblib</a:t>
            </a:r>
            <a:r>
              <a:rPr lang="en-IN" sz="1600" dirty="0"/>
              <a:t>: Used for serializing (saving) and loading the trained machine learning models (.</a:t>
            </a:r>
            <a:r>
              <a:rPr lang="en-IN" sz="1600" dirty="0" err="1"/>
              <a:t>pkl</a:t>
            </a:r>
            <a:r>
              <a:rPr lang="en-IN" sz="1600" dirty="0"/>
              <a:t> files).Web &amp; Utilities:</a:t>
            </a:r>
            <a:endParaRPr lang="en-US" sz="16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A31A13-C5DA-AA84-621E-FF41F95F85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5488" y="64326"/>
            <a:ext cx="8229600" cy="6793674"/>
          </a:xfrm>
        </p:spPr>
        <p:txBody>
          <a:bodyPr>
            <a:noAutofit/>
          </a:bodyPr>
          <a:lstStyle/>
          <a:p>
            <a:pPr algn="l">
              <a:lnSpc>
                <a:spcPct val="150000"/>
              </a:lnSpc>
            </a:pPr>
            <a:r>
              <a:rPr lang="en-US" sz="1600" b="1" dirty="0" err="1"/>
              <a:t>Gunicorn</a:t>
            </a:r>
            <a:r>
              <a:rPr lang="en-US" sz="1600" dirty="0"/>
              <a:t>: A WSGI HTTP server used for deploying the Flask application in production </a:t>
            </a:r>
            <a:r>
              <a:rPr lang="en-US" sz="1600" dirty="0" err="1"/>
              <a:t>environments.Werkzeug</a:t>
            </a:r>
            <a:r>
              <a:rPr lang="en-US" sz="1600" dirty="0"/>
              <a:t>: Used for security features like password hashing.Jinja2: The templating engine used by Flask to render dynamic HTML pages.</a:t>
            </a:r>
            <a:br>
              <a:rPr lang="en-US" sz="1600" dirty="0"/>
            </a:br>
            <a:br>
              <a:rPr lang="en-US" sz="1600" dirty="0"/>
            </a:br>
            <a:r>
              <a:rPr lang="en-US" sz="1600" dirty="0"/>
              <a:t>4. </a:t>
            </a:r>
            <a:r>
              <a:rPr lang="en-US" sz="1600" b="1" dirty="0"/>
              <a:t>Tools &amp; </a:t>
            </a:r>
            <a:r>
              <a:rPr lang="en-US" sz="1600" b="1" dirty="0" err="1"/>
              <a:t>EnvironmentVisual</a:t>
            </a:r>
            <a:r>
              <a:rPr lang="en-US" sz="1600" b="1" dirty="0"/>
              <a:t> Studio Code (VS Code): </a:t>
            </a:r>
            <a:r>
              <a:rPr lang="en-US" sz="1600" dirty="0"/>
              <a:t>The primary Integrated Development Environment (IDE) used for coding and </a:t>
            </a:r>
            <a:r>
              <a:rPr lang="en-US" sz="1600" dirty="0" err="1"/>
              <a:t>debugging.Git</a:t>
            </a:r>
            <a:r>
              <a:rPr lang="en-US" sz="1600" dirty="0"/>
              <a:t> &amp; GitHub: Used for version control and source code </a:t>
            </a:r>
            <a:r>
              <a:rPr lang="en-US" sz="1600" dirty="0" err="1"/>
              <a:t>management.SQLite</a:t>
            </a:r>
            <a:r>
              <a:rPr lang="en-US" sz="1600" dirty="0"/>
              <a:t>: A serverless, lightweight relational database engine used to store user profiles, college data, and scholarship </a:t>
            </a:r>
            <a:r>
              <a:rPr lang="en-US" sz="1600" dirty="0" err="1"/>
              <a:t>information.Render</a:t>
            </a:r>
            <a:r>
              <a:rPr lang="en-US" sz="1600" dirty="0"/>
              <a:t> / </a:t>
            </a:r>
            <a:r>
              <a:rPr lang="en-US" sz="1600" dirty="0" err="1"/>
              <a:t>Vercel</a:t>
            </a:r>
            <a:r>
              <a:rPr lang="en-US" sz="1600" dirty="0"/>
              <a:t>: Cloud platforms used for hosting and deploying the web application.</a:t>
            </a:r>
            <a:br>
              <a:rPr lang="en-US" sz="1600" dirty="0"/>
            </a:br>
            <a:br>
              <a:rPr lang="en-US" sz="1600" dirty="0"/>
            </a:br>
            <a:r>
              <a:rPr lang="en-US" sz="1600" b="1" dirty="0"/>
              <a:t>5. </a:t>
            </a:r>
            <a:r>
              <a:rPr lang="en-US" sz="1600" b="1" dirty="0" err="1"/>
              <a:t>DatasetsTNEA</a:t>
            </a:r>
            <a:r>
              <a:rPr lang="en-US" sz="1600" b="1" dirty="0"/>
              <a:t> Historical Cutoff Data (2019-2024): </a:t>
            </a:r>
            <a:r>
              <a:rPr lang="en-US" sz="1600" dirty="0"/>
              <a:t>A structured dataset containing cutoff marks, community categories, and admission results for engineering colleges in Tamil </a:t>
            </a:r>
            <a:r>
              <a:rPr lang="en-US" sz="1600" dirty="0" err="1"/>
              <a:t>Nadu.College</a:t>
            </a:r>
            <a:r>
              <a:rPr lang="en-US" sz="1600" dirty="0"/>
              <a:t> Information Dataset: A curated database containing details of 80+ colleges, </a:t>
            </a:r>
            <a:r>
              <a:rPr lang="en-US" sz="1600" dirty="0" err="1"/>
              <a:t>including:Fees</a:t>
            </a:r>
            <a:r>
              <a:rPr lang="en-US" sz="1600" dirty="0"/>
              <a:t> </a:t>
            </a:r>
            <a:r>
              <a:rPr lang="en-US" sz="1600" dirty="0" err="1"/>
              <a:t>structureLocation</a:t>
            </a:r>
            <a:r>
              <a:rPr lang="en-US" sz="1600" dirty="0"/>
              <a:t> (District/City)Courses </a:t>
            </a:r>
            <a:r>
              <a:rPr lang="en-US" sz="1600" dirty="0" err="1"/>
              <a:t>offeredPlacement</a:t>
            </a:r>
            <a:r>
              <a:rPr lang="en-US" sz="1600" dirty="0"/>
              <a:t> statistics (Average Package)Infrastructure </a:t>
            </a:r>
            <a:r>
              <a:rPr lang="en-US" sz="1600" dirty="0" err="1"/>
              <a:t>detailsScholarship</a:t>
            </a:r>
            <a:r>
              <a:rPr lang="en-US" sz="1600" dirty="0"/>
              <a:t> Database:** A custom dataset listing 50+ government and private scholarship schemes with eligibility criteria</a:t>
            </a:r>
          </a:p>
        </p:txBody>
      </p:sp>
    </p:spTree>
    <p:extLst>
      <p:ext uri="{BB962C8B-B14F-4D97-AF65-F5344CB8AC3E}">
        <p14:creationId xmlns:p14="http://schemas.microsoft.com/office/powerpoint/2010/main" val="348134789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82296"/>
            <a:ext cx="8229600" cy="713232"/>
          </a:xfrm>
        </p:spPr>
        <p:txBody>
          <a:bodyPr>
            <a:noAutofit/>
          </a:bodyPr>
          <a:lstStyle/>
          <a:p>
            <a:r>
              <a:rPr lang="en-US" sz="3200" b="1" dirty="0"/>
              <a:t>Proposed System – Methodology / Process Flow Chart</a:t>
            </a:r>
            <a:endParaRPr sz="3200" b="1" dirty="0"/>
          </a:p>
        </p:txBody>
      </p:sp>
      <p:sp>
        <p:nvSpPr>
          <p:cNvPr id="15" name="Content Placeholder 14">
            <a:extLst>
              <a:ext uri="{FF2B5EF4-FFF2-40B4-BE49-F238E27FC236}">
                <a16:creationId xmlns:a16="http://schemas.microsoft.com/office/drawing/2014/main" id="{3AE0E285-52F0-22DE-1E11-4280928631D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932688"/>
            <a:ext cx="8229600" cy="5742432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IN" sz="2400" b="1" dirty="0"/>
              <a:t>METHODOLOGY: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1800" b="1" dirty="0"/>
              <a:t>Data </a:t>
            </a:r>
            <a:r>
              <a:rPr lang="en-IN" sz="1800" b="1" dirty="0" err="1"/>
              <a:t>Collection:</a:t>
            </a:r>
            <a:r>
              <a:rPr lang="en-IN" sz="1800" dirty="0" err="1"/>
              <a:t>Gathered</a:t>
            </a:r>
            <a:r>
              <a:rPr lang="en-IN" sz="1800" dirty="0"/>
              <a:t> 5 years of historical admission data (2019-2024) from TNEA </a:t>
            </a:r>
            <a:r>
              <a:rPr lang="en-IN" sz="1800" dirty="0" err="1"/>
              <a:t>records.Collected</a:t>
            </a:r>
            <a:r>
              <a:rPr lang="en-IN" sz="1800" dirty="0"/>
              <a:t> details for 80+ colleges (Fees, Infrastructure, Placements).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1800" b="1" dirty="0"/>
              <a:t>Data </a:t>
            </a:r>
            <a:r>
              <a:rPr lang="en-IN" sz="1800" b="1" dirty="0" err="1"/>
              <a:t>Preprocessing:</a:t>
            </a:r>
            <a:r>
              <a:rPr lang="en-IN" sz="1800" dirty="0" err="1"/>
              <a:t>Cleaned</a:t>
            </a:r>
            <a:r>
              <a:rPr lang="en-IN" sz="1800" dirty="0"/>
              <a:t> data using Pandas (handled missing values and duplicates).Converted text data to numbers using Label </a:t>
            </a:r>
            <a:r>
              <a:rPr lang="en-IN" sz="1800" dirty="0" err="1"/>
              <a:t>Encoding.Split</a:t>
            </a:r>
            <a:r>
              <a:rPr lang="en-IN" sz="1800" dirty="0"/>
              <a:t> data into 80% Training and 20% Testing sets.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1800" b="1" dirty="0"/>
              <a:t>Machine Learning Models</a:t>
            </a:r>
            <a:r>
              <a:rPr lang="en-IN" sz="1800" dirty="0"/>
              <a:t>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1800" b="1" dirty="0"/>
              <a:t>Random Forest Classifier: </a:t>
            </a:r>
            <a:r>
              <a:rPr lang="en-IN" sz="1800" dirty="0"/>
              <a:t>Used to predict admission probability (High/Medium/Low) with 94.5% accuracy.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1800" b="1" dirty="0"/>
              <a:t>Linear Regression: </a:t>
            </a:r>
            <a:r>
              <a:rPr lang="en-IN" sz="1800" dirty="0"/>
              <a:t>Used to forecast future cutoff mark trends.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1800" b="1" dirty="0"/>
              <a:t>System Architecture (MVC):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1800" b="1" dirty="0"/>
              <a:t>Frontend (View): </a:t>
            </a:r>
            <a:r>
              <a:rPr lang="en-IN" sz="1800" dirty="0"/>
              <a:t>Built with HTML, CSS, Bootstrap for a responsive UI.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1800" b="1" dirty="0"/>
              <a:t>Backend (Controller): </a:t>
            </a:r>
            <a:r>
              <a:rPr lang="en-IN" sz="1800" dirty="0"/>
              <a:t>Developed using Python Flask to handle logic and API requests</a:t>
            </a:r>
            <a:r>
              <a:rPr lang="en-IN" sz="2100" dirty="0"/>
              <a:t>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800" b="1" dirty="0"/>
              <a:t>Database (Model): </a:t>
            </a:r>
            <a:r>
              <a:rPr lang="en-US" sz="1800" dirty="0"/>
              <a:t>Used SQLite to store user profiles and college data.</a:t>
            </a:r>
            <a:br>
              <a:rPr lang="en-US" sz="1800" dirty="0"/>
            </a:br>
            <a:r>
              <a:rPr lang="en-US" sz="1800" b="1" dirty="0"/>
              <a:t>Feature Implementation:</a:t>
            </a:r>
            <a:br>
              <a:rPr lang="en-US" sz="1800" b="1" dirty="0"/>
            </a:br>
            <a:r>
              <a:rPr lang="en-US" sz="1800" b="1" dirty="0"/>
              <a:t>Scholarship Matcher:</a:t>
            </a:r>
            <a:r>
              <a:rPr lang="en-US" sz="1800" dirty="0"/>
              <a:t> Rule-based logic to filter schemes by income and community.</a:t>
            </a:r>
            <a:br>
              <a:rPr lang="en-US" sz="1800" dirty="0"/>
            </a:br>
            <a:endParaRPr lang="en-IN" sz="1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45892159-85D1-CE24-AE95-2A0D84F10283}"/>
              </a:ext>
            </a:extLst>
          </p:cNvPr>
          <p:cNvSpPr txBox="1"/>
          <p:nvPr/>
        </p:nvSpPr>
        <p:spPr>
          <a:xfrm>
            <a:off x="384048" y="219456"/>
            <a:ext cx="8951976" cy="29801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b="1" dirty="0"/>
              <a:t>ROI Calculator: </a:t>
            </a:r>
            <a:r>
              <a:rPr lang="en-US" dirty="0"/>
              <a:t>Mathematical formula to compare Fees vs. Placement</a:t>
            </a:r>
          </a:p>
          <a:p>
            <a:pPr>
              <a:lnSpc>
                <a:spcPct val="150000"/>
              </a:lnSpc>
            </a:pPr>
            <a:r>
              <a:rPr lang="en-US" dirty="0"/>
              <a:t> </a:t>
            </a:r>
            <a:r>
              <a:rPr lang="en-US" b="1" dirty="0" err="1"/>
              <a:t>Package.Chatbot</a:t>
            </a:r>
            <a:r>
              <a:rPr lang="en-US" b="1" dirty="0"/>
              <a:t>: </a:t>
            </a:r>
            <a:r>
              <a:rPr lang="en-US" dirty="0"/>
              <a:t>Keyword-based AI for instant query resolution.</a:t>
            </a:r>
            <a:br>
              <a:rPr lang="en-US" dirty="0"/>
            </a:br>
            <a:r>
              <a:rPr lang="en-US" b="1" dirty="0" err="1"/>
              <a:t>Testing:</a:t>
            </a:r>
            <a:r>
              <a:rPr lang="en-US" dirty="0" err="1"/>
              <a:t>Conducted</a:t>
            </a:r>
            <a:r>
              <a:rPr lang="en-US" dirty="0"/>
              <a:t> Unit Testing for individual </a:t>
            </a:r>
            <a:r>
              <a:rPr lang="en-US" dirty="0" err="1"/>
              <a:t>functions.Performed</a:t>
            </a:r>
            <a:r>
              <a:rPr lang="en-US" dirty="0"/>
              <a:t> System Testing to verify the complete user flow (Login → Predict).</a:t>
            </a:r>
          </a:p>
          <a:p>
            <a:pPr>
              <a:lnSpc>
                <a:spcPct val="150000"/>
              </a:lnSpc>
            </a:pPr>
            <a:r>
              <a:rPr lang="en-US" sz="2800" b="1" dirty="0"/>
              <a:t>                                FLOW CHART</a:t>
            </a:r>
          </a:p>
          <a:p>
            <a:pPr>
              <a:lnSpc>
                <a:spcPct val="150000"/>
              </a:lnSpc>
            </a:pPr>
            <a:endParaRPr lang="en-US" sz="2800" b="1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6B49534-CB7D-784C-ED2A-C83776C54BB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6697" y="2523744"/>
            <a:ext cx="7507223" cy="38313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8448732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923B42-558A-D112-439D-1D5187DCEC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750"/>
            <a:ext cx="8229600" cy="850074"/>
          </a:xfrm>
        </p:spPr>
        <p:txBody>
          <a:bodyPr/>
          <a:lstStyle/>
          <a:p>
            <a:r>
              <a:rPr lang="en-US" sz="4000" dirty="0">
                <a:solidFill>
                  <a:srgbClr val="FF0000"/>
                </a:solidFill>
              </a:rPr>
              <a:t>Details of the Techniques used</a:t>
            </a:r>
            <a:endParaRPr lang="en-IN" sz="4000" dirty="0">
              <a:solidFill>
                <a:srgbClr val="FF0000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6C7A4DD-123E-249A-5979-B453172AD51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960120"/>
            <a:ext cx="8229600" cy="5870130"/>
          </a:xfrm>
        </p:spPr>
        <p:txBody>
          <a:bodyPr>
            <a:noAutofit/>
          </a:bodyPr>
          <a:lstStyle/>
          <a:p>
            <a:pPr>
              <a:lnSpc>
                <a:spcPct val="170000"/>
              </a:lnSpc>
              <a:buFont typeface="Wingdings" panose="05000000000000000000" pitchFamily="2" charset="2"/>
              <a:buChar char="q"/>
            </a:pPr>
            <a:r>
              <a:rPr lang="en-IN" sz="1400" b="1" dirty="0"/>
              <a:t>Machine Learning:</a:t>
            </a:r>
          </a:p>
          <a:p>
            <a:pPr>
              <a:lnSpc>
                <a:spcPct val="170000"/>
              </a:lnSpc>
              <a:buFont typeface="Wingdings" panose="05000000000000000000" pitchFamily="2" charset="2"/>
              <a:buChar char="Ø"/>
            </a:pPr>
            <a:r>
              <a:rPr lang="en-IN" sz="1400" dirty="0"/>
              <a:t>Random Forest (Ensemble Learning): Used for high-accuracy admission probability prediction.</a:t>
            </a:r>
          </a:p>
          <a:p>
            <a:pPr>
              <a:lnSpc>
                <a:spcPct val="170000"/>
              </a:lnSpc>
              <a:buFont typeface="Wingdings" panose="05000000000000000000" pitchFamily="2" charset="2"/>
              <a:buChar char="Ø"/>
            </a:pPr>
            <a:r>
              <a:rPr lang="en-IN" sz="1400" dirty="0"/>
              <a:t>Linear Regression: Used for forecasting future cutoff trends.</a:t>
            </a:r>
          </a:p>
          <a:p>
            <a:pPr>
              <a:lnSpc>
                <a:spcPct val="170000"/>
              </a:lnSpc>
              <a:buFont typeface="Wingdings" panose="05000000000000000000" pitchFamily="2" charset="2"/>
              <a:buChar char="Ø"/>
            </a:pPr>
            <a:r>
              <a:rPr lang="en-IN" sz="1400" dirty="0"/>
              <a:t>Label Encoding: Converted text data (Community, Course) into numbers for the models.</a:t>
            </a:r>
          </a:p>
          <a:p>
            <a:pPr>
              <a:lnSpc>
                <a:spcPct val="170000"/>
              </a:lnSpc>
              <a:buFont typeface="Wingdings" panose="05000000000000000000" pitchFamily="2" charset="2"/>
              <a:buChar char="q"/>
            </a:pPr>
            <a:r>
              <a:rPr lang="en-IN" sz="1400" b="1" dirty="0"/>
              <a:t>Web Development:</a:t>
            </a:r>
          </a:p>
          <a:p>
            <a:pPr>
              <a:lnSpc>
                <a:spcPct val="170000"/>
              </a:lnSpc>
              <a:buFont typeface="Wingdings" panose="05000000000000000000" pitchFamily="2" charset="2"/>
              <a:buChar char="Ø"/>
            </a:pPr>
            <a:r>
              <a:rPr lang="en-IN" sz="1400" dirty="0"/>
              <a:t>MVC Architecture: Separated code into Data (Model), UI (View), and Logic (Controller).</a:t>
            </a:r>
          </a:p>
          <a:p>
            <a:pPr>
              <a:lnSpc>
                <a:spcPct val="170000"/>
              </a:lnSpc>
              <a:buFont typeface="Wingdings" panose="05000000000000000000" pitchFamily="2" charset="2"/>
              <a:buChar char="Ø"/>
            </a:pPr>
            <a:r>
              <a:rPr lang="en-IN" sz="1400" dirty="0"/>
              <a:t>AJAX: Enabled instant updates for the Chatbot without reloading the page.</a:t>
            </a:r>
          </a:p>
          <a:p>
            <a:pPr>
              <a:lnSpc>
                <a:spcPct val="170000"/>
              </a:lnSpc>
              <a:buFont typeface="Wingdings" panose="05000000000000000000" pitchFamily="2" charset="2"/>
              <a:buChar char="Ø"/>
            </a:pPr>
            <a:r>
              <a:rPr lang="en-IN" sz="1400" dirty="0"/>
              <a:t>Session Management: Used to securely keep users logged in.</a:t>
            </a:r>
          </a:p>
          <a:p>
            <a:pPr>
              <a:lnSpc>
                <a:spcPct val="170000"/>
              </a:lnSpc>
              <a:buFont typeface="Wingdings" panose="05000000000000000000" pitchFamily="2" charset="2"/>
              <a:buChar char="q"/>
            </a:pPr>
            <a:r>
              <a:rPr lang="en-IN" sz="1400" b="1" dirty="0"/>
              <a:t>Data Processing:</a:t>
            </a:r>
          </a:p>
          <a:p>
            <a:pPr>
              <a:lnSpc>
                <a:spcPct val="170000"/>
              </a:lnSpc>
              <a:buFont typeface="Wingdings" panose="05000000000000000000" pitchFamily="2" charset="2"/>
              <a:buChar char="Ø"/>
            </a:pPr>
            <a:r>
              <a:rPr lang="en-IN" sz="1400" dirty="0"/>
              <a:t>Normalization: Scaled cutoff marks to a standard range for fair analysis.</a:t>
            </a:r>
          </a:p>
          <a:p>
            <a:pPr>
              <a:lnSpc>
                <a:spcPct val="170000"/>
              </a:lnSpc>
              <a:buFont typeface="Wingdings" panose="05000000000000000000" pitchFamily="2" charset="2"/>
              <a:buChar char="Ø"/>
            </a:pPr>
            <a:r>
              <a:rPr lang="en-IN" sz="1400" dirty="0"/>
              <a:t>Rule-Based </a:t>
            </a:r>
            <a:r>
              <a:rPr lang="en-IN" sz="1400" dirty="0" err="1"/>
              <a:t>Logic:Used</a:t>
            </a:r>
            <a:r>
              <a:rPr lang="en-IN" sz="1400" dirty="0"/>
              <a:t> IF-THEN conditions for the Scholarship Matcher.</a:t>
            </a:r>
          </a:p>
          <a:p>
            <a:pPr>
              <a:lnSpc>
                <a:spcPct val="170000"/>
              </a:lnSpc>
              <a:buFont typeface="Wingdings" panose="05000000000000000000" pitchFamily="2" charset="2"/>
              <a:buChar char="q"/>
            </a:pPr>
            <a:r>
              <a:rPr lang="en-IN" sz="1400" b="1" dirty="0"/>
              <a:t>Security:</a:t>
            </a:r>
          </a:p>
          <a:p>
            <a:pPr>
              <a:lnSpc>
                <a:spcPct val="170000"/>
              </a:lnSpc>
              <a:buFont typeface="Wingdings" panose="05000000000000000000" pitchFamily="2" charset="2"/>
              <a:buChar char="Ø"/>
            </a:pPr>
            <a:r>
              <a:rPr lang="en-IN" sz="1400" dirty="0"/>
              <a:t>Password Hashing: Encrypted passwords using SHA-256 for security.</a:t>
            </a:r>
          </a:p>
          <a:p>
            <a:pPr>
              <a:lnSpc>
                <a:spcPct val="170000"/>
              </a:lnSpc>
              <a:buFont typeface="Wingdings" panose="05000000000000000000" pitchFamily="2" charset="2"/>
              <a:buChar char="Ø"/>
            </a:pPr>
            <a:r>
              <a:rPr lang="en-IN" sz="1400" dirty="0"/>
              <a:t>Input Validation: Sanitized user inputs to prevent system errors and attacks.</a:t>
            </a:r>
          </a:p>
        </p:txBody>
      </p:sp>
    </p:spTree>
    <p:extLst>
      <p:ext uri="{BB962C8B-B14F-4D97-AF65-F5344CB8AC3E}">
        <p14:creationId xmlns:p14="http://schemas.microsoft.com/office/powerpoint/2010/main" val="175747503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2710E8-FCB1-36DA-41A0-AEA583B16A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4048" y="55182"/>
            <a:ext cx="8229600" cy="749490"/>
          </a:xfrm>
        </p:spPr>
        <p:txBody>
          <a:bodyPr/>
          <a:lstStyle/>
          <a:p>
            <a:r>
              <a:rPr lang="en-US" sz="4000" dirty="0">
                <a:solidFill>
                  <a:srgbClr val="FF0000"/>
                </a:solidFill>
              </a:rPr>
              <a:t>RESULTS AND DISCUSSION</a:t>
            </a:r>
            <a:endParaRPr lang="en-IN" sz="4000" dirty="0">
              <a:solidFill>
                <a:srgbClr val="FF0000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26B66BE-F055-DC0A-E381-7602441E8CF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4048" y="878142"/>
            <a:ext cx="8229600" cy="5924676"/>
          </a:xfrm>
        </p:spPr>
        <p:txBody>
          <a:bodyPr>
            <a:normAutofit fontScale="25000" lnSpcReduction="20000"/>
          </a:bodyPr>
          <a:lstStyle/>
          <a:p>
            <a:pPr marL="0" indent="0">
              <a:lnSpc>
                <a:spcPct val="170000"/>
              </a:lnSpc>
              <a:buNone/>
            </a:pPr>
            <a:r>
              <a:rPr lang="en-IN" b="1" dirty="0"/>
              <a:t>              </a:t>
            </a:r>
            <a:r>
              <a:rPr lang="en-IN" sz="6400" b="1" dirty="0"/>
              <a:t>RESULT:</a:t>
            </a:r>
          </a:p>
          <a:p>
            <a:pPr>
              <a:lnSpc>
                <a:spcPct val="170000"/>
              </a:lnSpc>
              <a:buFont typeface="Wingdings" panose="05000000000000000000" pitchFamily="2" charset="2"/>
              <a:buChar char="Ø"/>
            </a:pPr>
            <a:r>
              <a:rPr lang="en-IN" sz="6400" b="1" dirty="0"/>
              <a:t>Step 1: User Registration and Authentication</a:t>
            </a:r>
          </a:p>
          <a:p>
            <a:pPr>
              <a:lnSpc>
                <a:spcPct val="170000"/>
              </a:lnSpc>
              <a:buFont typeface="Arial" panose="020B0604020202020204" pitchFamily="34" charset="0"/>
              <a:buChar char="•"/>
            </a:pPr>
            <a:r>
              <a:rPr lang="en-IN" sz="6400" b="1" dirty="0" err="1"/>
              <a:t>Process:</a:t>
            </a:r>
            <a:r>
              <a:rPr lang="en-IN" sz="6400" dirty="0" err="1"/>
              <a:t>The</a:t>
            </a:r>
            <a:r>
              <a:rPr lang="en-IN" sz="6400" dirty="0"/>
              <a:t> user accesses the landing page and attempts to create an account or log in using their email and password.</a:t>
            </a:r>
          </a:p>
          <a:p>
            <a:pPr>
              <a:lnSpc>
                <a:spcPct val="170000"/>
              </a:lnSpc>
              <a:buFont typeface="Arial" panose="020B0604020202020204" pitchFamily="34" charset="0"/>
              <a:buChar char="•"/>
            </a:pPr>
            <a:r>
              <a:rPr lang="en-IN" sz="6400" b="1" dirty="0"/>
              <a:t>Observed Output:</a:t>
            </a:r>
          </a:p>
          <a:p>
            <a:pPr>
              <a:lnSpc>
                <a:spcPct val="170000"/>
              </a:lnSpc>
              <a:buFont typeface="Arial" panose="020B0604020202020204" pitchFamily="34" charset="0"/>
              <a:buChar char="•"/>
            </a:pPr>
            <a:r>
              <a:rPr lang="en-IN" sz="6400" b="1" dirty="0"/>
              <a:t>Valid </a:t>
            </a:r>
            <a:r>
              <a:rPr lang="en-IN" sz="6400" b="1" dirty="0" err="1"/>
              <a:t>Input:</a:t>
            </a:r>
            <a:r>
              <a:rPr lang="en-IN" sz="6400" dirty="0" err="1"/>
              <a:t>The</a:t>
            </a:r>
            <a:r>
              <a:rPr lang="en-IN" sz="6400" dirty="0"/>
              <a:t> system redirects the user to the Dashboard immediately.       </a:t>
            </a:r>
          </a:p>
          <a:p>
            <a:pPr>
              <a:lnSpc>
                <a:spcPct val="170000"/>
              </a:lnSpc>
              <a:buFont typeface="Arial" panose="020B0604020202020204" pitchFamily="34" charset="0"/>
              <a:buChar char="•"/>
            </a:pPr>
            <a:r>
              <a:rPr lang="en-IN" sz="6400" b="1" dirty="0"/>
              <a:t>Invalid </a:t>
            </a:r>
            <a:r>
              <a:rPr lang="en-IN" sz="6400" b="1" dirty="0" err="1"/>
              <a:t>Input:</a:t>
            </a:r>
            <a:r>
              <a:rPr lang="en-IN" sz="6400" dirty="0" err="1"/>
              <a:t>If</a:t>
            </a:r>
            <a:r>
              <a:rPr lang="en-IN" sz="6400" dirty="0"/>
              <a:t> a user tries to register with an existing email, the system displays: "Email already exists." If the password is wrong during login, it shows: "Invalid credentials.</a:t>
            </a:r>
          </a:p>
          <a:p>
            <a:pPr>
              <a:lnSpc>
                <a:spcPct val="170000"/>
              </a:lnSpc>
              <a:buFont typeface="Wingdings" panose="05000000000000000000" pitchFamily="2" charset="2"/>
              <a:buChar char="§"/>
            </a:pPr>
            <a:r>
              <a:rPr lang="en-IN" sz="6400" b="1" dirty="0" err="1"/>
              <a:t>Interpretation:</a:t>
            </a:r>
            <a:r>
              <a:rPr lang="en-IN" sz="6400" dirty="0" err="1"/>
              <a:t>The</a:t>
            </a:r>
            <a:r>
              <a:rPr lang="en-IN" sz="6400" dirty="0"/>
              <a:t> successful redirection confirms that the *Session Management* logic in Flask is functioning correctly.     </a:t>
            </a:r>
          </a:p>
          <a:p>
            <a:pPr>
              <a:lnSpc>
                <a:spcPct val="170000"/>
              </a:lnSpc>
              <a:buFont typeface="Wingdings" panose="05000000000000000000" pitchFamily="2" charset="2"/>
              <a:buChar char="§"/>
            </a:pPr>
            <a:r>
              <a:rPr lang="en-IN" sz="6400" dirty="0"/>
              <a:t>The error handling proves that the *Database Constraints* (Unique Email) and Password Hashing (SHA-256 verification) are secure and active.</a:t>
            </a:r>
          </a:p>
          <a:p>
            <a:pPr>
              <a:lnSpc>
                <a:spcPct val="170000"/>
              </a:lnSpc>
              <a:buFont typeface="Wingdings" panose="05000000000000000000" pitchFamily="2" charset="2"/>
              <a:buChar char="Ø"/>
            </a:pPr>
            <a:r>
              <a:rPr lang="en-IN" sz="6400" b="1" dirty="0"/>
              <a:t>Step 2: Dashboard and Navigation</a:t>
            </a:r>
          </a:p>
          <a:p>
            <a:pPr>
              <a:lnSpc>
                <a:spcPct val="170000"/>
              </a:lnSpc>
              <a:buFont typeface="Arial" panose="020B0604020202020204" pitchFamily="34" charset="0"/>
              <a:buChar char="•"/>
            </a:pPr>
            <a:r>
              <a:rPr lang="en-IN" sz="6400" b="1" dirty="0" err="1"/>
              <a:t>Process:</a:t>
            </a:r>
            <a:r>
              <a:rPr lang="en-IN" sz="6400" dirty="0" err="1"/>
              <a:t>Upon</a:t>
            </a:r>
            <a:r>
              <a:rPr lang="en-IN" sz="6400" dirty="0"/>
              <a:t> logging in, the user interacts with the main dashboard to select a service (Prediction, Search, or Scholarship).</a:t>
            </a:r>
          </a:p>
          <a:p>
            <a:pPr>
              <a:lnSpc>
                <a:spcPct val="170000"/>
              </a:lnSpc>
              <a:buFont typeface="Arial" panose="020B0604020202020204" pitchFamily="34" charset="0"/>
              <a:buChar char="•"/>
            </a:pPr>
            <a:r>
              <a:rPr lang="en-IN" sz="640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23787627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E1B11C21-3F72-697E-42CA-6B57A76329D1}"/>
              </a:ext>
            </a:extLst>
          </p:cNvPr>
          <p:cNvSpPr txBox="1"/>
          <p:nvPr/>
        </p:nvSpPr>
        <p:spPr>
          <a:xfrm>
            <a:off x="521208" y="115553"/>
            <a:ext cx="4572000" cy="7349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buFont typeface="Arial" panose="020B0604020202020204" pitchFamily="34" charset="0"/>
              <a:buChar char="•"/>
            </a:pPr>
            <a:endParaRPr lang="en-IN" sz="1800" dirty="0"/>
          </a:p>
          <a:p>
            <a:pPr>
              <a:lnSpc>
                <a:spcPct val="120000"/>
              </a:lnSpc>
              <a:buFont typeface="Arial" panose="020B0604020202020204" pitchFamily="34" charset="0"/>
              <a:buChar char="•"/>
            </a:pPr>
            <a:endParaRPr lang="en-IN" sz="18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57BC36C-9074-086B-4E80-29293D7012FD}"/>
              </a:ext>
            </a:extLst>
          </p:cNvPr>
          <p:cNvSpPr txBox="1"/>
          <p:nvPr/>
        </p:nvSpPr>
        <p:spPr>
          <a:xfrm>
            <a:off x="521208" y="115552"/>
            <a:ext cx="8622792" cy="67403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Observed Output: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The dashboard displays the user's name dynamically (e.g., "Welcome, Sameer").     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The layout adjusts automatically when viewed on a mobile screen (Menu collapses into a hamburger icon).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Interpretation: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The dynamic name display confirms that *Jinja2 Templating* is correctly fetching user session data from the backend.   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The responsive layout validates the effectiveness of the *Bootstrap 5* grid system used in the frontend design.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IN" dirty="0"/>
              <a:t>Step 3: Admission Prediction (Core Module)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 err="1"/>
              <a:t>Process:The</a:t>
            </a:r>
            <a:r>
              <a:rPr lang="en-IN" dirty="0"/>
              <a:t> user enters their academic details: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Cutoff: 185, **Community: BC, **Course: CSE*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Observed Output: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The system returns a list of colleges categorized by probability:      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 High Chance (&gt;85%): K.L.N. College of Engineering.         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Medium Chance (50-85%): Sri Krishna College of Technology.  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Low Chance (&lt;50%): Anna University (CEG).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Interpretation: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 The *Random Forest Classifier* correctly identified that a cutoff of 185 is competitive but likely insufficient for the top-tier Anna University (CEG) in the CSE branch, classifying it as "Low Chance." 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This result aligns with historical TNEA data, confirming the model's *94.5% accuracy*. The system successfully mapped the non-linear relationship between community quotas and cutoff marks.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4347606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942DB9F2-038E-F87B-D7D3-DCB1BE96C915}"/>
              </a:ext>
            </a:extLst>
          </p:cNvPr>
          <p:cNvSpPr txBox="1"/>
          <p:nvPr/>
        </p:nvSpPr>
        <p:spPr>
          <a:xfrm>
            <a:off x="438912" y="-106712"/>
            <a:ext cx="8705088" cy="70714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1600" b="1" dirty="0"/>
              <a:t>Step 4: College Search and Filtering: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600" b="1" dirty="0"/>
              <a:t>Process:* </a:t>
            </a:r>
            <a:r>
              <a:rPr lang="en-US" sz="1600" dirty="0"/>
              <a:t>The user navigates to the "Search Colleges" page and applies filters: *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600" b="1" dirty="0"/>
              <a:t>District: </a:t>
            </a:r>
            <a:r>
              <a:rPr lang="en-US" sz="1600" dirty="0"/>
              <a:t>"Chennai"* and *Max Fees: "200000"*.*   *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600" dirty="0"/>
              <a:t>Observed Output:*    *   The table updates instantly to show only colleges located in Chennai with fees below ₹2 Lakhs. Colleges in Coimbatore or Madurai are hidden.*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600" b="1" dirty="0"/>
              <a:t>*Interpretation:</a:t>
            </a:r>
            <a:r>
              <a:rPr lang="en-US" sz="1600" dirty="0"/>
              <a:t>*    *   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600" dirty="0"/>
              <a:t>This demonstrates the efficiency of the *SQL Query Logic*. The backend successfully constructed a SELECT * FROM colleges WHERE district='Chennai' AND fees &lt; 200000 query.    *   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600" dirty="0"/>
              <a:t>The speed of the result indicates that the database indexing is optimized for read operations.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1600" b="1" dirty="0"/>
              <a:t>Step 5: Scholarship Matcher: 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1600" b="1" dirty="0"/>
              <a:t>Process:</a:t>
            </a:r>
            <a:r>
              <a:rPr lang="en-IN" sz="1600" dirty="0"/>
              <a:t>* The user inputs their financial background: *Annual Income: ₹1,50,000* and *Community: SC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1600" b="1" dirty="0"/>
              <a:t>Observed Output: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1600" dirty="0"/>
              <a:t>The system displays: "Eligible for Post Matric Scholarship (SC/ST)" and "First Graduate Concession."*   *Interpretation:*    *  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1600" dirty="0"/>
              <a:t>The *Rule-Based Expert System* functioned correctly. It evaluated the condition Income &lt; 2.5L AND Community == SC as TRUE.       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1600" dirty="0"/>
              <a:t>This proves the system can accurately map dynamic user attributes to static eligibility criteria without errors.</a:t>
            </a:r>
            <a:endParaRPr lang="en-US" sz="1600" dirty="0"/>
          </a:p>
        </p:txBody>
      </p:sp>
    </p:spTree>
    <p:extLst>
      <p:ext uri="{BB962C8B-B14F-4D97-AF65-F5344CB8AC3E}">
        <p14:creationId xmlns:p14="http://schemas.microsoft.com/office/powerpoint/2010/main" val="303245816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2A9551-BA6A-57B8-BAAE-76063BA1D1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6307" y="5931739"/>
            <a:ext cx="8229600" cy="1143000"/>
          </a:xfrm>
        </p:spPr>
        <p:txBody>
          <a:bodyPr>
            <a:normAutofit/>
          </a:bodyPr>
          <a:lstStyle/>
          <a:p>
            <a:r>
              <a:rPr lang="en-IN" sz="2400" b="1" dirty="0" err="1"/>
              <a:t>Fig:Interface</a:t>
            </a:r>
            <a:endParaRPr lang="en-US" sz="2400" b="1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C3B52F0-C509-5821-22FA-A98E22B15E6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88720" y="3217200"/>
            <a:ext cx="6141085" cy="2954097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94AE226F-784D-D92A-1174-87FCA3A6E57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38595" y="126300"/>
            <a:ext cx="6191209" cy="2281820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348BE4B3-A3A2-D0D5-42E8-AE89169D4BDB}"/>
              </a:ext>
            </a:extLst>
          </p:cNvPr>
          <p:cNvSpPr txBox="1"/>
          <p:nvPr/>
        </p:nvSpPr>
        <p:spPr>
          <a:xfrm>
            <a:off x="3273552" y="2442816"/>
            <a:ext cx="4572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 err="1"/>
              <a:t>Fig:Login</a:t>
            </a:r>
            <a:r>
              <a:rPr lang="en-US" b="1" dirty="0"/>
              <a:t> Page</a:t>
            </a:r>
          </a:p>
        </p:txBody>
      </p:sp>
    </p:spTree>
    <p:extLst>
      <p:ext uri="{BB962C8B-B14F-4D97-AF65-F5344CB8AC3E}">
        <p14:creationId xmlns:p14="http://schemas.microsoft.com/office/powerpoint/2010/main" val="163655521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A65616-3CB1-6557-1CB4-82C97C1C9C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7472" y="2286000"/>
            <a:ext cx="8229600" cy="1143000"/>
          </a:xfrm>
        </p:spPr>
        <p:txBody>
          <a:bodyPr>
            <a:normAutofit/>
          </a:bodyPr>
          <a:lstStyle/>
          <a:p>
            <a:r>
              <a:rPr lang="en-IN" sz="2000" dirty="0" err="1"/>
              <a:t>Fig:Based</a:t>
            </a:r>
            <a:r>
              <a:rPr lang="en-IN" sz="2000" dirty="0"/>
              <a:t> on cutoff marks</a:t>
            </a:r>
            <a:endParaRPr lang="en-US" sz="2000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DEDD12F-8E88-C9AB-035B-AF8D72C5CC78}"/>
              </a:ext>
            </a:extLst>
          </p:cNvPr>
          <p:cNvSpPr txBox="1"/>
          <p:nvPr/>
        </p:nvSpPr>
        <p:spPr>
          <a:xfrm>
            <a:off x="3355848" y="6164646"/>
            <a:ext cx="457200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dirty="0" err="1"/>
              <a:t>Fig:College</a:t>
            </a:r>
            <a:r>
              <a:rPr lang="en-US" sz="2000" dirty="0"/>
              <a:t> Comparison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58A21A3E-CEC5-E022-B089-5B5EF9FE15F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05484" y="3173606"/>
            <a:ext cx="6565392" cy="2839164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3C19D0E8-16C3-71A9-ECA4-393F53E3711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79576" y="114348"/>
            <a:ext cx="6591300" cy="25151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2166966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935AB3-9C43-7FBF-4FD0-9CCB8B3386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22960" y="2468880"/>
            <a:ext cx="8229600" cy="576071"/>
          </a:xfrm>
        </p:spPr>
        <p:txBody>
          <a:bodyPr>
            <a:normAutofit/>
          </a:bodyPr>
          <a:lstStyle/>
          <a:p>
            <a:r>
              <a:rPr lang="en-IN" sz="2000" dirty="0" err="1"/>
              <a:t>Fig:Expected</a:t>
            </a:r>
            <a:r>
              <a:rPr lang="en-IN" sz="2000" dirty="0"/>
              <a:t> Cutoff for </a:t>
            </a:r>
            <a:r>
              <a:rPr lang="en-IN" sz="2000" dirty="0" err="1"/>
              <a:t>preffered</a:t>
            </a:r>
            <a:r>
              <a:rPr lang="en-IN" sz="2000" dirty="0"/>
              <a:t> colleges </a:t>
            </a:r>
            <a:endParaRPr lang="en-US" sz="200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F53E777-BB19-E0C9-BB45-BFFE295C990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1368" y="0"/>
            <a:ext cx="5614416" cy="246888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B795B4C7-22DB-9E3C-C71A-E6142B9BF0E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01368" y="3167393"/>
            <a:ext cx="5614416" cy="2715770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935AD1C4-79B5-A861-3234-07B8C768F7E5}"/>
              </a:ext>
            </a:extLst>
          </p:cNvPr>
          <p:cNvSpPr txBox="1"/>
          <p:nvPr/>
        </p:nvSpPr>
        <p:spPr>
          <a:xfrm>
            <a:off x="3712464" y="6005605"/>
            <a:ext cx="4572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 err="1"/>
              <a:t>Fig:Scholarship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3562122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6429AD-67D5-D4F4-2C30-8EEDD15327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4000" dirty="0"/>
              <a:t>Future Enhancement</a:t>
            </a:r>
            <a:endParaRPr lang="en-IN" sz="40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BB10DC8-77E6-BD70-D0AE-66898B8F4EC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166018"/>
            <a:ext cx="8229600" cy="5691982"/>
          </a:xfrm>
        </p:spPr>
        <p:txBody>
          <a:bodyPr>
            <a:noAutofit/>
          </a:bodyPr>
          <a:lstStyle/>
          <a:p>
            <a:pPr>
              <a:buFont typeface="Wingdings" panose="05000000000000000000" pitchFamily="2" charset="2"/>
              <a:buChar char="Ø"/>
            </a:pPr>
            <a:r>
              <a:rPr lang="en-IN" sz="1800" b="1" dirty="0"/>
              <a:t>Real-Time Data Integration:</a:t>
            </a:r>
          </a:p>
          <a:p>
            <a:pPr>
              <a:lnSpc>
                <a:spcPct val="170000"/>
              </a:lnSpc>
            </a:pPr>
            <a:r>
              <a:rPr lang="en-IN" sz="1800" dirty="0"/>
              <a:t>Integrate with official government APIs (like TNEA) to fetch live </a:t>
            </a:r>
            <a:r>
              <a:rPr lang="en-IN" sz="1800" dirty="0" err="1"/>
              <a:t>counseling</a:t>
            </a:r>
            <a:r>
              <a:rPr lang="en-IN" sz="1800" dirty="0"/>
              <a:t> status, seat availability, and dynamic cutoff updates during the admission season.</a:t>
            </a:r>
          </a:p>
          <a:p>
            <a:pPr>
              <a:lnSpc>
                <a:spcPct val="170000"/>
              </a:lnSpc>
            </a:pPr>
            <a:r>
              <a:rPr lang="en-IN" sz="1800" dirty="0"/>
              <a:t>Multi-Language </a:t>
            </a:r>
            <a:r>
              <a:rPr lang="en-IN" sz="1800" dirty="0" err="1"/>
              <a:t>Support:Add</a:t>
            </a:r>
            <a:r>
              <a:rPr lang="en-IN" sz="1800" dirty="0"/>
              <a:t> support for regional languages (Tamil) to ensure rural students and parents can navigate the platform and understand guidance without language barriers.</a:t>
            </a:r>
          </a:p>
          <a:p>
            <a:pPr>
              <a:lnSpc>
                <a:spcPct val="170000"/>
              </a:lnSpc>
            </a:pPr>
            <a:r>
              <a:rPr lang="en-IN" sz="1800" dirty="0"/>
              <a:t>Advanced Career </a:t>
            </a:r>
            <a:r>
              <a:rPr lang="en-IN" sz="1800" dirty="0" err="1"/>
              <a:t>Counseling</a:t>
            </a:r>
            <a:r>
              <a:rPr lang="en-IN" sz="1800" dirty="0"/>
              <a:t> </a:t>
            </a:r>
            <a:r>
              <a:rPr lang="en-IN" sz="1800" dirty="0" err="1"/>
              <a:t>AI:Upgrade</a:t>
            </a:r>
            <a:r>
              <a:rPr lang="en-IN" sz="1800" dirty="0"/>
              <a:t> the chatbot to a Generative AI model (like GPT) that can offer personalized career advice, </a:t>
            </a:r>
            <a:r>
              <a:rPr lang="en-IN" sz="1800" dirty="0" err="1"/>
              <a:t>analyze</a:t>
            </a:r>
            <a:r>
              <a:rPr lang="en-IN" sz="1800" dirty="0"/>
              <a:t> student interests, and suggest courses beyond just marks.</a:t>
            </a:r>
          </a:p>
          <a:p>
            <a:pPr>
              <a:lnSpc>
                <a:spcPct val="170000"/>
              </a:lnSpc>
            </a:pPr>
            <a:r>
              <a:rPr lang="en-IN" sz="1800" dirty="0"/>
              <a:t>Expansion to Other </a:t>
            </a:r>
            <a:r>
              <a:rPr lang="en-IN" sz="1800" dirty="0" err="1"/>
              <a:t>States:Scale</a:t>
            </a:r>
            <a:r>
              <a:rPr lang="en-IN" sz="1800" dirty="0"/>
              <a:t> the database and prediction models to cover colleges in other states (like Karnataka or Kerala) and other domains (Medical/NEET, Arts &amp; Science).</a:t>
            </a:r>
          </a:p>
        </p:txBody>
      </p:sp>
    </p:spTree>
    <p:extLst>
      <p:ext uri="{BB962C8B-B14F-4D97-AF65-F5344CB8AC3E}">
        <p14:creationId xmlns:p14="http://schemas.microsoft.com/office/powerpoint/2010/main" val="99900866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F82C48-C49E-1F15-13BE-25E4D4A308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dirty="0"/>
              <a:t>REFERENCES</a:t>
            </a:r>
            <a:endParaRPr lang="en-IN" sz="40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925CF5-C9B3-CAA0-D3A0-70F64E1709B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166018"/>
            <a:ext cx="8229600" cy="5545678"/>
          </a:xfrm>
        </p:spPr>
        <p:txBody>
          <a:bodyPr>
            <a:noAutofit/>
          </a:bodyPr>
          <a:lstStyle/>
          <a:p>
            <a:pPr>
              <a:lnSpc>
                <a:spcPct val="150000"/>
              </a:lnSpc>
            </a:pPr>
            <a:r>
              <a:rPr lang="en-IN" sz="1800" dirty="0"/>
              <a:t>Al-Barrak, M. A., &amp; Al-</a:t>
            </a:r>
            <a:r>
              <a:rPr lang="en-IN" sz="1800" dirty="0" err="1"/>
              <a:t>Razgan</a:t>
            </a:r>
            <a:r>
              <a:rPr lang="en-IN" sz="1800" dirty="0"/>
              <a:t>, M. (2016). Predicting students’ performance using data mining techniques. International Journal of Computer Applications, 160(7), 24–29.</a:t>
            </a:r>
          </a:p>
          <a:p>
            <a:pPr>
              <a:lnSpc>
                <a:spcPct val="150000"/>
              </a:lnSpc>
            </a:pPr>
            <a:r>
              <a:rPr lang="en-IN" sz="1800" dirty="0"/>
              <a:t> Ahmed, A. M., Zeki, A. M., &amp; Selamat, A. (2017). A machine learning approach for predicting student admissions. Journal of Theoretical and Applied Information Technology, 95(20), 5354–5364.</a:t>
            </a:r>
          </a:p>
          <a:p>
            <a:pPr>
              <a:lnSpc>
                <a:spcPct val="150000"/>
              </a:lnSpc>
            </a:pPr>
            <a:r>
              <a:rPr lang="en-IN" sz="1800" dirty="0"/>
              <a:t>Kumar, V., &amp; Chadha, A. (2015). Machine learning: Principles and techniques. International Journal of Computer Science and Technology, 6(2), 53–59.</a:t>
            </a:r>
          </a:p>
          <a:p>
            <a:pPr>
              <a:lnSpc>
                <a:spcPct val="150000"/>
              </a:lnSpc>
            </a:pPr>
            <a:r>
              <a:rPr lang="en-IN" sz="1800" dirty="0"/>
              <a:t>Han, J., Kamber, M., &amp; Pei, J. (2012). Data mining: Concepts and techniques (3rd ed.). Morgan Kaufmann.</a:t>
            </a:r>
          </a:p>
          <a:p>
            <a:pPr>
              <a:lnSpc>
                <a:spcPct val="150000"/>
              </a:lnSpc>
            </a:pPr>
            <a:r>
              <a:rPr lang="en-IN" sz="1800" dirty="0"/>
              <a:t>Romero, C., &amp; Ventura, S. (2020). Educational data mining: A review of the state of the art. IEEE Transactions on Systems, Man, and Cybernetics: Systems, 50(3), 778–795.</a:t>
            </a:r>
          </a:p>
          <a:p>
            <a:pPr>
              <a:lnSpc>
                <a:spcPct val="150000"/>
              </a:lnSpc>
            </a:pPr>
            <a:r>
              <a:rPr lang="en-IN" sz="1800" dirty="0"/>
              <a:t>Yadav, S. K., Bharadwaj, B., &amp; Pal, S. (2012). Data mining applications: A comparative study for predicting student performance. International Journal of Computer Science and Information Security, 10(2), 113–120.</a:t>
            </a:r>
          </a:p>
        </p:txBody>
      </p:sp>
    </p:spTree>
    <p:extLst>
      <p:ext uri="{BB962C8B-B14F-4D97-AF65-F5344CB8AC3E}">
        <p14:creationId xmlns:p14="http://schemas.microsoft.com/office/powerpoint/2010/main" val="240167817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>
            <a:extLst>
              <a:ext uri="{FF2B5EF4-FFF2-40B4-BE49-F238E27FC236}">
                <a16:creationId xmlns:a16="http://schemas.microsoft.com/office/drawing/2014/main" id="{6F75A12E-DD23-6AD9-F7C1-DC571209816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36776" y="91440"/>
            <a:ext cx="5852160" cy="61904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09902733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TM04033929[[fn=Slate]]</Template>
  <TotalTime>445</TotalTime>
  <Words>2032</Words>
  <Application>Microsoft Office PowerPoint</Application>
  <PresentationFormat>On-screen Show (4:3)</PresentationFormat>
  <Paragraphs>111</Paragraphs>
  <Slides>17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1" baseType="lpstr">
      <vt:lpstr>Arial</vt:lpstr>
      <vt:lpstr>Calibri</vt:lpstr>
      <vt:lpstr>Wingdings</vt:lpstr>
      <vt:lpstr>Office Theme</vt:lpstr>
      <vt:lpstr>DEPARTMENT OF COMPUTER SCIENCE AND ENGINEERING  MINI PROJECT UNIVERSITY ADMISSION PREDICTION SYSYTEM</vt:lpstr>
      <vt:lpstr>Problem Statement</vt:lpstr>
      <vt:lpstr>Objectives</vt:lpstr>
      <vt:lpstr>Tools and Technologies Used</vt:lpstr>
      <vt:lpstr>Gunicorn: A WSGI HTTP server used for deploying the Flask application in production environments.Werkzeug: Used for security features like password hashing.Jinja2: The templating engine used by Flask to render dynamic HTML pages.  4. Tools &amp; EnvironmentVisual Studio Code (VS Code): The primary Integrated Development Environment (IDE) used for coding and debugging.Git &amp; GitHub: Used for version control and source code management.SQLite: A serverless, lightweight relational database engine used to store user profiles, college data, and scholarship information.Render / Vercel: Cloud platforms used for hosting and deploying the web application.  5. DatasetsTNEA Historical Cutoff Data (2019-2024): A structured dataset containing cutoff marks, community categories, and admission results for engineering colleges in Tamil Nadu.College Information Dataset: A curated database containing details of 80+ colleges, including:Fees structureLocation (District/City)Courses offeredPlacement statistics (Average Package)Infrastructure detailsScholarship Database:** A custom dataset listing 50+ government and private scholarship schemes with eligibility criteria</vt:lpstr>
      <vt:lpstr>Proposed System – Methodology / Process Flow Chart</vt:lpstr>
      <vt:lpstr>PowerPoint Presentation</vt:lpstr>
      <vt:lpstr>Details of the Techniques used</vt:lpstr>
      <vt:lpstr>RESULTS AND DISCUSSION</vt:lpstr>
      <vt:lpstr>PowerPoint Presentation</vt:lpstr>
      <vt:lpstr>PowerPoint Presentation</vt:lpstr>
      <vt:lpstr>Fig:Interface</vt:lpstr>
      <vt:lpstr>Fig:Based on cutoff marks</vt:lpstr>
      <vt:lpstr>Fig:Expected Cutoff for preffered colleges </vt:lpstr>
      <vt:lpstr>Future Enhancement</vt:lpstr>
      <vt:lpstr>REFERENCES</vt:lpstr>
      <vt:lpstr>PowerPoint Presentation</vt:lpstr>
    </vt:vector>
  </TitlesOfParts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36021M81 MINI PROJECT Mini Project Title</dc:title>
  <dc:creator>HP</dc:creator>
  <dc:description>generated using python-pptx</dc:description>
  <cp:lastModifiedBy>HEMA SAI</cp:lastModifiedBy>
  <cp:revision>7</cp:revision>
  <dcterms:created xsi:type="dcterms:W3CDTF">2013-01-27T09:14:16Z</dcterms:created>
  <dcterms:modified xsi:type="dcterms:W3CDTF">2025-11-30T13:21:31Z</dcterms:modified>
</cp:coreProperties>
</file>